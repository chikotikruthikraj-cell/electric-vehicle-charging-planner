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HACKATHON 2026  •  SMART MOBILITY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078992"/>
            <a:ext cx="640080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600" b="1">
                <a:solidFill>
                  <a:srgbClr val="F5F9FC"/>
                </a:solidFill>
                <a:latin typeface="Aptos"/>
              </a:rPr>
              <a:t>Electric Vehicle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664208"/>
            <a:ext cx="640080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600" b="1">
                <a:solidFill>
                  <a:srgbClr val="42E697"/>
                </a:solidFill>
                <a:latin typeface="Aptos"/>
              </a:rPr>
              <a:t>Charging 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87168"/>
            <a:ext cx="5577840" cy="10058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0">
                <a:solidFill>
                  <a:srgbClr val="A7BCCD"/>
                </a:solidFill>
                <a:latin typeface="Aptos"/>
              </a:rPr>
              <a:t>An intelligent route and charging planner that recommends the best route and charging stations based on battery level, station availability, and travel distance.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3"/>
            <a:ext cx="1261872" cy="347472"/>
          </a:xfrm>
          <a:prstGeom prst="roundRect">
            <a:avLst/>
          </a:prstGeom>
          <a:solidFill>
            <a:srgbClr val="11263C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794760"/>
            <a:ext cx="1261872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35DCE8"/>
                </a:solidFill>
                <a:latin typeface="Aptos"/>
              </a:rPr>
              <a:t>EV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75688" y="3712463"/>
            <a:ext cx="1261872" cy="347472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75688" y="3794760"/>
            <a:ext cx="1261872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2E697"/>
                </a:solidFill>
                <a:latin typeface="Aptos"/>
              </a:rPr>
              <a:t>SMART ROUTING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93008" y="3712463"/>
            <a:ext cx="1261872" cy="347472"/>
          </a:xfrm>
          <a:prstGeom prst="roundRect">
            <a:avLst/>
          </a:prstGeom>
          <a:solidFill>
            <a:srgbClr val="11263C"/>
          </a:solidFill>
          <a:ln>
            <a:solidFill>
              <a:srgbClr val="4A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93008" y="3794760"/>
            <a:ext cx="1261872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A87FF"/>
                </a:solidFill>
                <a:latin typeface="Aptos"/>
              </a:rPr>
              <a:t>SUSTAINABLE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343400"/>
            <a:ext cx="5394960" cy="114300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343400"/>
            <a:ext cx="54864" cy="1143000"/>
          </a:xfrm>
          <a:prstGeom prst="round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489704"/>
            <a:ext cx="5029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5F9FC"/>
                </a:solidFill>
                <a:latin typeface="Aptos"/>
              </a:rPr>
              <a:t>TEAM MEMBERS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828032"/>
            <a:ext cx="5029200" cy="5577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7BCCD"/>
                </a:solidFill>
                <a:latin typeface="Aptos"/>
              </a:rPr>
              <a:t>[Add team member names]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868680"/>
            <a:ext cx="18288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A7BCCD"/>
                </a:solidFill>
                <a:latin typeface="Aptos"/>
              </a:rPr>
              <a:t>DOMAIN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1170432"/>
            <a:ext cx="3108960" cy="10058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F5F9FC"/>
                </a:solidFill>
                <a:latin typeface="Aptos"/>
              </a:rPr>
              <a:t>Electric Vehicles
Smart Transportation
Sustainable Mobility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2487168"/>
            <a:ext cx="4892040" cy="26974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39712" y="4343400"/>
            <a:ext cx="4389120" cy="164592"/>
          </a:xfrm>
          <a:prstGeom prst="rect">
            <a:avLst/>
          </a:prstGeom>
          <a:solidFill>
            <a:srgbClr val="2A3C4A"/>
          </a:solidFill>
          <a:ln>
            <a:solidFill>
              <a:srgbClr val="2A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98079" y="3401568"/>
            <a:ext cx="2880360" cy="731520"/>
          </a:xfrm>
          <a:prstGeom prst="round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73568" y="3054096"/>
            <a:ext cx="960120" cy="475488"/>
          </a:xfrm>
          <a:prstGeom prst="roundRect">
            <a:avLst/>
          </a:prstGeom>
          <a:solidFill>
            <a:srgbClr val="325C75"/>
          </a:solidFill>
          <a:ln>
            <a:solidFill>
              <a:srgbClr val="325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06840" y="3054096"/>
            <a:ext cx="960120" cy="475488"/>
          </a:xfrm>
          <a:prstGeom prst="roundRect">
            <a:avLst/>
          </a:prstGeom>
          <a:solidFill>
            <a:srgbClr val="325C75"/>
          </a:solidFill>
          <a:ln>
            <a:solidFill>
              <a:srgbClr val="325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26679" y="3968496"/>
            <a:ext cx="438912" cy="438912"/>
          </a:xfrm>
          <a:prstGeom prst="ellipse">
            <a:avLst/>
          </a:prstGeom>
          <a:solidFill>
            <a:srgbClr val="07101E"/>
          </a:solidFill>
          <a:ln>
            <a:solidFill>
              <a:srgbClr val="071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79" y="3977639"/>
            <a:ext cx="438912" cy="420623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9646920" y="3968496"/>
            <a:ext cx="438912" cy="438912"/>
          </a:xfrm>
          <a:prstGeom prst="ellipse">
            <a:avLst/>
          </a:prstGeom>
          <a:solidFill>
            <a:srgbClr val="07101E"/>
          </a:solidFill>
          <a:ln>
            <a:solidFill>
              <a:srgbClr val="071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3977639"/>
            <a:ext cx="438912" cy="420623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69880" y="2743200"/>
            <a:ext cx="502920" cy="1463040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570464" y="2944368"/>
            <a:ext cx="301752" cy="438912"/>
          </a:xfrm>
          <a:prstGeom prst="round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H="1">
            <a:off x="10012680" y="4206240"/>
            <a:ext cx="704088" cy="0"/>
          </a:xfrm>
          <a:prstGeom prst="line">
            <a:avLst/>
          </a:prstGeom>
          <a:ln w="254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012680" y="3767328"/>
            <a:ext cx="0" cy="438912"/>
          </a:xfrm>
          <a:prstGeom prst="line">
            <a:avLst/>
          </a:prstGeom>
          <a:ln w="254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561320" y="2971800"/>
            <a:ext cx="32004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07101E"/>
                </a:solidFill>
                <a:latin typeface="Aptos"/>
              </a:rPr>
              <a:t>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681728"/>
            <a:ext cx="6400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42E697"/>
                </a:solidFill>
                <a:latin typeface="Aptos"/>
              </a:rPr>
              <a:t>70%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4727448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BATTERY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"/>
            <a:ext cx="5029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02  /  THE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5F9FC"/>
                </a:solidFill>
                <a:latin typeface="Aptos"/>
              </a:rPr>
              <a:t>EV travel is not just a shortest-path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1207008"/>
            <a:ext cx="1088136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A7BCCD"/>
                </a:solidFill>
                <a:latin typeface="Aptos"/>
              </a:rPr>
              <a:t>The route must remain feasible as battery range, station availability, and charging decisions change.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737360"/>
            <a:ext cx="3749039" cy="36118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1737360"/>
            <a:ext cx="54864" cy="3611880"/>
          </a:xfrm>
          <a:prstGeom prst="round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1883664"/>
            <a:ext cx="3383279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5F9FC"/>
                </a:solidFill>
                <a:latin typeface="Aptos"/>
              </a:rPr>
              <a:t>WHY ROUTING IS HARD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221991"/>
            <a:ext cx="3383279" cy="302666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A7BCCD"/>
                </a:solidFill>
                <a:latin typeface="Aptos"/>
              </a:rPr>
              <a:t>• Limited battery range
• Stations have different availability
• Nearest ≠ best charging stop
• Long trips require multiple decisions
• Route + charging must be solved together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1737360"/>
            <a:ext cx="4617720" cy="36118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4800600" y="4048963"/>
            <a:ext cx="1203350" cy="888796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800600" y="4048963"/>
            <a:ext cx="1203350" cy="888796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003950" y="3001518"/>
            <a:ext cx="831190" cy="1047445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003950" y="3001518"/>
            <a:ext cx="831190" cy="1047445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835140" y="2148840"/>
            <a:ext cx="1988820" cy="852678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835140" y="2148840"/>
            <a:ext cx="1988820" cy="852678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72000" y="3001518"/>
            <a:ext cx="1247241" cy="252831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0" y="3001518"/>
            <a:ext cx="1247241" cy="252831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19241" y="3254349"/>
            <a:ext cx="1570025" cy="361188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819241" y="3254349"/>
            <a:ext cx="1570025" cy="361188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389266" y="2387498"/>
            <a:ext cx="1663294" cy="1228039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389266" y="2387498"/>
            <a:ext cx="1663294" cy="1228039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066026" y="1874519"/>
            <a:ext cx="323240" cy="1307593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7066026" y="1874519"/>
            <a:ext cx="323240" cy="1307593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066026" y="3182112"/>
            <a:ext cx="554126" cy="2075688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066026" y="3182112"/>
            <a:ext cx="554126" cy="2075688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846320" y="4048963"/>
            <a:ext cx="1157630" cy="888796"/>
          </a:xfrm>
          <a:prstGeom prst="line">
            <a:avLst/>
          </a:prstGeom>
          <a:ln w="381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003950" y="3001518"/>
            <a:ext cx="831190" cy="1047445"/>
          </a:xfrm>
          <a:prstGeom prst="line">
            <a:avLst/>
          </a:prstGeom>
          <a:ln w="381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835140" y="2148840"/>
            <a:ext cx="1988820" cy="852678"/>
          </a:xfrm>
          <a:prstGeom prst="line">
            <a:avLst/>
          </a:prstGeom>
          <a:ln w="381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4727448" y="4818888"/>
            <a:ext cx="237744" cy="237744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27448" y="4828031"/>
            <a:ext cx="23774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EV</a:t>
            </a:r>
          </a:p>
        </p:txBody>
      </p:sp>
      <p:sp>
        <p:nvSpPr>
          <p:cNvPr id="43" name="Oval 42"/>
          <p:cNvSpPr/>
          <p:nvPr/>
        </p:nvSpPr>
        <p:spPr>
          <a:xfrm>
            <a:off x="5885078" y="3930091"/>
            <a:ext cx="237744" cy="237744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85078" y="3939235"/>
            <a:ext cx="23774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6716268" y="2882646"/>
            <a:ext cx="237744" cy="237744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16268" y="2891789"/>
            <a:ext cx="23774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C</a:t>
            </a:r>
          </a:p>
        </p:txBody>
      </p:sp>
      <p:sp>
        <p:nvSpPr>
          <p:cNvPr id="47" name="Oval 46"/>
          <p:cNvSpPr/>
          <p:nvPr/>
        </p:nvSpPr>
        <p:spPr>
          <a:xfrm>
            <a:off x="8705088" y="2029968"/>
            <a:ext cx="237744" cy="237744"/>
          </a:xfrm>
          <a:prstGeom prst="ellipse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05088" y="2039112"/>
            <a:ext cx="23774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DEST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90872" y="1883664"/>
            <a:ext cx="4288536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LIVE ROUTE PREVIEW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4526280"/>
            <a:ext cx="6400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42E697"/>
                </a:solidFill>
                <a:latin typeface="Aptos"/>
              </a:rPr>
              <a:t>70%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22392" y="4572000"/>
            <a:ext cx="73152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BATTERY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80" y="2331720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FFC74D"/>
                </a:solidFill>
                <a:latin typeface="Aptos"/>
              </a:rPr>
              <a:t>STATION 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3401568"/>
            <a:ext cx="9144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FFC74D"/>
                </a:solidFill>
                <a:latin typeface="Aptos"/>
              </a:rPr>
              <a:t>STATION 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73568" y="1993392"/>
            <a:ext cx="10058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FF6868"/>
                </a:solidFill>
                <a:latin typeface="Aptos"/>
              </a:rPr>
              <a:t>DESTINATION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72600" y="1737360"/>
            <a:ext cx="2267712" cy="105156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372600" y="1737360"/>
            <a:ext cx="54864" cy="1051560"/>
          </a:xfrm>
          <a:prstGeom prst="round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73768" y="1883664"/>
            <a:ext cx="190195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5F9FC"/>
                </a:solidFill>
                <a:latin typeface="Aptos"/>
              </a:rPr>
              <a:t>RANGE ANXIETY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73768" y="2221991"/>
            <a:ext cx="1901952" cy="466343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A7BCCD"/>
                </a:solidFill>
                <a:latin typeface="Aptos"/>
              </a:rPr>
              <a:t>Confidence that the EV can complete the trip.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372600" y="2944368"/>
            <a:ext cx="2267712" cy="105156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372600" y="2944368"/>
            <a:ext cx="54864" cy="1051560"/>
          </a:xfrm>
          <a:prstGeom prst="round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73768" y="3090672"/>
            <a:ext cx="190195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5F9FC"/>
                </a:solidFill>
                <a:latin typeface="Aptos"/>
              </a:rPr>
              <a:t>TIME + DISTANCE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73768" y="3429000"/>
            <a:ext cx="1901952" cy="466343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A7BCCD"/>
                </a:solidFill>
                <a:latin typeface="Aptos"/>
              </a:rPr>
              <a:t>Avoid unnecessary detours and inefficient stops.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372600" y="4151376"/>
            <a:ext cx="2267712" cy="1197864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372600" y="4151376"/>
            <a:ext cx="54864" cy="1197864"/>
          </a:xfrm>
          <a:prstGeom prst="roundRect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73768" y="4297680"/>
            <a:ext cx="190195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5F9FC"/>
                </a:solidFill>
                <a:latin typeface="Aptos"/>
              </a:rPr>
              <a:t>BETTER DECISIONS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73768" y="4636008"/>
            <a:ext cx="1901952" cy="6126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A7BCCD"/>
                </a:solidFill>
                <a:latin typeface="Aptos"/>
              </a:rPr>
              <a:t>Recommend charging stops using explicit factors.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5532120"/>
            <a:ext cx="182880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A7BCCD"/>
                </a:solidFill>
                <a:latin typeface="Aptos"/>
              </a:rPr>
              <a:t>KEY CONSTRAINTS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240280" y="5468112"/>
            <a:ext cx="1627632" cy="384048"/>
          </a:xfrm>
          <a:prstGeom prst="roundRect">
            <a:avLst/>
          </a:prstGeom>
          <a:solidFill>
            <a:srgbClr val="11263C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40280" y="5559552"/>
            <a:ext cx="1627632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35DCE8"/>
                </a:solidFill>
                <a:latin typeface="Aptos"/>
              </a:rPr>
              <a:t>BATTERY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069080" y="5468112"/>
            <a:ext cx="1627632" cy="384048"/>
          </a:xfrm>
          <a:prstGeom prst="roundRect">
            <a:avLst/>
          </a:prstGeom>
          <a:solidFill>
            <a:srgbClr val="11263C"/>
          </a:solidFill>
          <a:ln>
            <a:solidFill>
              <a:srgbClr val="4A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69080" y="5559552"/>
            <a:ext cx="1627632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A87FF"/>
                </a:solidFill>
                <a:latin typeface="Aptos"/>
              </a:rPr>
              <a:t>DISTANCE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897880" y="5468112"/>
            <a:ext cx="1627632" cy="384048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97880" y="5559552"/>
            <a:ext cx="1627632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42E697"/>
                </a:solidFill>
                <a:latin typeface="Aptos"/>
              </a:rPr>
              <a:t>AVAILABILITY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726679" y="5468112"/>
            <a:ext cx="1627632" cy="384048"/>
          </a:xfrm>
          <a:prstGeom prst="roundRect">
            <a:avLst/>
          </a:prstGeom>
          <a:solidFill>
            <a:srgbClr val="11263C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26679" y="5559552"/>
            <a:ext cx="1627632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FFC74D"/>
                </a:solidFill>
                <a:latin typeface="Aptos"/>
              </a:rPr>
              <a:t>ROUTE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555480" y="5468112"/>
            <a:ext cx="1627632" cy="384048"/>
          </a:xfrm>
          <a:prstGeom prst="roundRect">
            <a:avLst/>
          </a:prstGeom>
          <a:solidFill>
            <a:srgbClr val="11263C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555480" y="5559552"/>
            <a:ext cx="1627632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FF6868"/>
                </a:solidFill>
                <a:latin typeface="Aptos"/>
              </a:rPr>
              <a:t>STOPS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"/>
            <a:ext cx="5029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03  /  THE INNOVATION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5F9FC"/>
                </a:solidFill>
                <a:latin typeface="Aptos"/>
              </a:rPr>
              <a:t>Three algorithms. One explainable EV journey.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1207008"/>
            <a:ext cx="1088136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A7BCCD"/>
                </a:solidFill>
                <a:latin typeface="Aptos"/>
              </a:rPr>
              <a:t>Combine shortest-path optimization, local charging decisions, and priority-based candidate selection.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691640"/>
            <a:ext cx="11064240" cy="658368"/>
          </a:xfrm>
          <a:prstGeom prst="roundRect">
            <a:avLst/>
          </a:prstGeom>
          <a:solidFill>
            <a:srgbClr val="11263C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1847088"/>
            <a:ext cx="105156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35DCE8"/>
                </a:solidFill>
                <a:latin typeface="Aptos"/>
              </a:rPr>
              <a:t>DIJKSTRA</a:t>
            </a:r>
            <a:r>
              <a:rPr sz="1800" b="1">
                <a:solidFill>
                  <a:srgbClr val="A7BCCD"/>
                </a:solidFill>
                <a:latin typeface="Aptos"/>
              </a:rPr>
              <a:t>  +  </a:t>
            </a:r>
            <a:r>
              <a:rPr sz="1800" b="1">
                <a:solidFill>
                  <a:srgbClr val="42E697"/>
                </a:solidFill>
                <a:latin typeface="Aptos"/>
              </a:rPr>
              <a:t>GREEDY</a:t>
            </a:r>
            <a:r>
              <a:rPr sz="1800" b="1">
                <a:solidFill>
                  <a:srgbClr val="A7BCCD"/>
                </a:solidFill>
                <a:latin typeface="Aptos"/>
              </a:rPr>
              <a:t>  +  </a:t>
            </a:r>
            <a:r>
              <a:rPr sz="1800" b="1">
                <a:solidFill>
                  <a:srgbClr val="FFC74D"/>
                </a:solidFill>
                <a:latin typeface="Aptos"/>
              </a:rPr>
              <a:t>PRIORITY QUEUE</a:t>
            </a:r>
            <a:r>
              <a:rPr sz="1800" b="1">
                <a:solidFill>
                  <a:srgbClr val="A7BCCD"/>
                </a:solidFill>
                <a:latin typeface="Aptos"/>
              </a:rPr>
              <a:t>  →  </a:t>
            </a:r>
            <a:r>
              <a:rPr sz="1800" b="1">
                <a:solidFill>
                  <a:srgbClr val="F5F9FC"/>
                </a:solidFill>
                <a:latin typeface="Aptos"/>
              </a:rPr>
              <a:t>FEASIBLE EV JOURNEY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670048"/>
            <a:ext cx="5349240" cy="233172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907792"/>
            <a:ext cx="24688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A7BCCD"/>
                </a:solidFill>
                <a:latin typeface="Aptos"/>
              </a:rPr>
              <a:t>TRADITIONAL 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310128"/>
            <a:ext cx="201168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F5F9FC"/>
                </a:solidFill>
                <a:latin typeface="Aptos"/>
              </a:rPr>
              <a:t>Distance only</a:t>
            </a:r>
          </a:p>
        </p:txBody>
      </p:sp>
      <p:sp>
        <p:nvSpPr>
          <p:cNvPr id="22" name="Oval 21"/>
          <p:cNvSpPr/>
          <p:nvPr/>
        </p:nvSpPr>
        <p:spPr>
          <a:xfrm>
            <a:off x="841248" y="3886200"/>
            <a:ext cx="118872" cy="118872"/>
          </a:xfrm>
          <a:prstGeom prst="ellipse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895344"/>
            <a:ext cx="118872" cy="1005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500" b="1">
                <a:solidFill>
                  <a:srgbClr val="07101E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858768"/>
            <a:ext cx="4261104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Shortest road path</a:t>
            </a:r>
          </a:p>
        </p:txBody>
      </p:sp>
      <p:sp>
        <p:nvSpPr>
          <p:cNvPr id="25" name="Oval 24"/>
          <p:cNvSpPr/>
          <p:nvPr/>
        </p:nvSpPr>
        <p:spPr>
          <a:xfrm>
            <a:off x="841248" y="4206240"/>
            <a:ext cx="118872" cy="118872"/>
          </a:xfrm>
          <a:prstGeom prst="ellipse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215383"/>
            <a:ext cx="118872" cy="1005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500" b="1">
                <a:solidFill>
                  <a:srgbClr val="07101E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4178807"/>
            <a:ext cx="4261104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Ignores battery state</a:t>
            </a:r>
          </a:p>
        </p:txBody>
      </p:sp>
      <p:sp>
        <p:nvSpPr>
          <p:cNvPr id="28" name="Oval 27"/>
          <p:cNvSpPr/>
          <p:nvPr/>
        </p:nvSpPr>
        <p:spPr>
          <a:xfrm>
            <a:off x="841248" y="4526280"/>
            <a:ext cx="118872" cy="118872"/>
          </a:xfrm>
          <a:prstGeom prst="ellipse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535424"/>
            <a:ext cx="118872" cy="1005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500" b="1">
                <a:solidFill>
                  <a:srgbClr val="07101E"/>
                </a:solidFill>
                <a:latin typeface="Aptos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" y="4498848"/>
            <a:ext cx="4261104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May pick unavailable station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53328" y="2670048"/>
            <a:ext cx="5577840" cy="2331720"/>
          </a:xfrm>
          <a:prstGeom prst="roundRect">
            <a:avLst/>
          </a:prstGeom>
          <a:solidFill>
            <a:srgbClr val="0D1D30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907792"/>
            <a:ext cx="228600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42E697"/>
                </a:solidFill>
                <a:latin typeface="Aptos"/>
              </a:rPr>
              <a:t>OUR 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310128"/>
            <a:ext cx="466344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5F9FC"/>
                </a:solidFill>
                <a:latin typeface="Aptos"/>
              </a:rPr>
              <a:t>Distance + Battery + Availability</a:t>
            </a:r>
          </a:p>
        </p:txBody>
      </p:sp>
      <p:sp>
        <p:nvSpPr>
          <p:cNvPr id="34" name="Oval 33"/>
          <p:cNvSpPr/>
          <p:nvPr/>
        </p:nvSpPr>
        <p:spPr>
          <a:xfrm>
            <a:off x="6327648" y="3886200"/>
            <a:ext cx="118872" cy="118872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3895344"/>
            <a:ext cx="118872" cy="1005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500" b="1">
                <a:solidFill>
                  <a:srgbClr val="07101E"/>
                </a:solidFill>
                <a:latin typeface="Aptos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3858768"/>
            <a:ext cx="4626864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Dijkstra finds least-cost feasible route</a:t>
            </a:r>
          </a:p>
        </p:txBody>
      </p:sp>
      <p:sp>
        <p:nvSpPr>
          <p:cNvPr id="37" name="Oval 36"/>
          <p:cNvSpPr/>
          <p:nvPr/>
        </p:nvSpPr>
        <p:spPr>
          <a:xfrm>
            <a:off x="6327648" y="4206240"/>
            <a:ext cx="118872" cy="118872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4215383"/>
            <a:ext cx="118872" cy="1005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500" b="1">
                <a:solidFill>
                  <a:srgbClr val="07101E"/>
                </a:solidFill>
                <a:latin typeface="Aptos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7104" y="4178807"/>
            <a:ext cx="4626864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Greedy selects a suitable charging stop</a:t>
            </a:r>
          </a:p>
        </p:txBody>
      </p:sp>
      <p:sp>
        <p:nvSpPr>
          <p:cNvPr id="40" name="Oval 39"/>
          <p:cNvSpPr/>
          <p:nvPr/>
        </p:nvSpPr>
        <p:spPr>
          <a:xfrm>
            <a:off x="6327648" y="4526280"/>
            <a:ext cx="118872" cy="118872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7648" y="4535424"/>
            <a:ext cx="118872" cy="1005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500" b="1">
                <a:solidFill>
                  <a:srgbClr val="07101E"/>
                </a:solidFill>
                <a:latin typeface="Aptos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7104" y="4498848"/>
            <a:ext cx="4626864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Priority Queue processes best candidate first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285232"/>
            <a:ext cx="2542032" cy="960120"/>
          </a:xfrm>
          <a:prstGeom prst="roundRect">
            <a:avLst/>
          </a:prstGeom>
          <a:solidFill>
            <a:srgbClr val="11263C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1520" y="5504688"/>
            <a:ext cx="384048" cy="384048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513831"/>
            <a:ext cx="384048" cy="365759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7101E"/>
                </a:solidFill>
                <a:latin typeface="Aptos"/>
              </a:rPr>
              <a:t>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4440" y="5422392"/>
            <a:ext cx="16002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F5F9FC"/>
                </a:solidFill>
                <a:latin typeface="Aptos"/>
              </a:rPr>
              <a:t>Battery-aware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4440" y="5696712"/>
            <a:ext cx="1645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Feasible by current range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37560" y="5285232"/>
            <a:ext cx="2542032" cy="960120"/>
          </a:xfrm>
          <a:prstGeom prst="roundRect">
            <a:avLst/>
          </a:prstGeom>
          <a:solidFill>
            <a:srgbClr val="11263C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502152" y="5504688"/>
            <a:ext cx="384048" cy="384048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02152" y="5513831"/>
            <a:ext cx="384048" cy="365759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7101E"/>
                </a:solidFill>
                <a:latin typeface="Aptos"/>
              </a:rPr>
              <a:t>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05072" y="5422392"/>
            <a:ext cx="16002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F5F9FC"/>
                </a:solidFill>
                <a:latin typeface="Aptos"/>
              </a:rPr>
              <a:t>Station-aware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05072" y="5696712"/>
            <a:ext cx="1645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Availability is a decision factor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08192" y="5285232"/>
            <a:ext cx="2542032" cy="960120"/>
          </a:xfrm>
          <a:prstGeom prst="roundRect">
            <a:avLst/>
          </a:prstGeom>
          <a:solidFill>
            <a:srgbClr val="11263C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272783" y="5504688"/>
            <a:ext cx="384048" cy="384048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3" y="5513831"/>
            <a:ext cx="384048" cy="365759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7101E"/>
                </a:solidFill>
                <a:latin typeface="Aptos"/>
              </a:rPr>
              <a:t>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75704" y="5422392"/>
            <a:ext cx="16002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F5F9FC"/>
                </a:solidFill>
                <a:latin typeface="Aptos"/>
              </a:rPr>
              <a:t>Explainable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75704" y="5696712"/>
            <a:ext cx="1645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Shows why a choice was made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78824" y="5285232"/>
            <a:ext cx="2542032" cy="960120"/>
          </a:xfrm>
          <a:prstGeom prst="roundRect">
            <a:avLst/>
          </a:prstGeom>
          <a:solidFill>
            <a:srgbClr val="11263C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043415" y="5504688"/>
            <a:ext cx="384048" cy="384048"/>
          </a:xfrm>
          <a:prstGeom prst="ellipse">
            <a:avLst/>
          </a:prstGeom>
          <a:solidFill>
            <a:srgbClr val="4A87FF"/>
          </a:solidFill>
          <a:ln>
            <a:solidFill>
              <a:srgbClr val="4A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43415" y="5513831"/>
            <a:ext cx="384048" cy="365759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7101E"/>
                </a:solidFill>
                <a:latin typeface="Aptos"/>
              </a:rPr>
              <a:t>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46336" y="5422392"/>
            <a:ext cx="16002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F5F9FC"/>
                </a:solidFill>
                <a:latin typeface="Aptos"/>
              </a:rPr>
              <a:t>Visual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46336" y="5696712"/>
            <a:ext cx="16459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Route + stops on a map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"/>
            <a:ext cx="5029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04  /  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5F9FC"/>
                </a:solidFill>
                <a:latin typeface="Aptos"/>
              </a:rPr>
              <a:t>From user input to an explainable journey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1207008"/>
            <a:ext cx="1088136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A7BCCD"/>
                </a:solidFill>
                <a:latin typeface="Aptos"/>
              </a:rPr>
              <a:t>The prototype turns trip constraints into a graph search + charging decision pipeline.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011680"/>
            <a:ext cx="1417320" cy="20116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2221992"/>
            <a:ext cx="457200" cy="457200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231136"/>
            <a:ext cx="45720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7101E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2852928"/>
            <a:ext cx="1179576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USER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246120"/>
            <a:ext cx="1179576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Location • Destination • Battery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20240" y="3017520"/>
            <a:ext cx="484632" cy="0"/>
          </a:xfrm>
          <a:prstGeom prst="line">
            <a:avLst/>
          </a:prstGeom>
          <a:ln w="22860">
            <a:solidFill>
              <a:srgbClr val="35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2340864" y="2953512"/>
            <a:ext cx="128016" cy="128016"/>
          </a:xfrm>
          <a:prstGeom prst="triangl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468880" y="2011680"/>
            <a:ext cx="1417320" cy="20116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6080" y="2221992"/>
            <a:ext cx="457200" cy="457200"/>
          </a:xfrm>
          <a:prstGeom prst="ellipse">
            <a:avLst/>
          </a:prstGeom>
          <a:solidFill>
            <a:srgbClr val="4A87FF"/>
          </a:solidFill>
          <a:ln>
            <a:solidFill>
              <a:srgbClr val="4A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2231136"/>
            <a:ext cx="45720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7101E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87752" y="2852928"/>
            <a:ext cx="1179576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87752" y="3246120"/>
            <a:ext cx="1179576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Road graph • Stations • Availability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886200" y="3017520"/>
            <a:ext cx="484632" cy="0"/>
          </a:xfrm>
          <a:prstGeom prst="line">
            <a:avLst/>
          </a:prstGeom>
          <a:ln w="22860">
            <a:solidFill>
              <a:srgbClr val="35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4306824" y="2953512"/>
            <a:ext cx="128016" cy="128016"/>
          </a:xfrm>
          <a:prstGeom prst="triangl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34840" y="2011680"/>
            <a:ext cx="1417320" cy="20116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92040" y="2221992"/>
            <a:ext cx="457200" cy="457200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2231136"/>
            <a:ext cx="45720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7101E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2852928"/>
            <a:ext cx="1179576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DIJKSTRA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3246120"/>
            <a:ext cx="1179576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Least-cost feasible route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52159" y="3017520"/>
            <a:ext cx="484633" cy="0"/>
          </a:xfrm>
          <a:prstGeom prst="line">
            <a:avLst/>
          </a:prstGeom>
          <a:ln w="22860">
            <a:solidFill>
              <a:srgbClr val="35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6272783" y="2953512"/>
            <a:ext cx="128016" cy="128016"/>
          </a:xfrm>
          <a:prstGeom prst="triangl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00800" y="2011680"/>
            <a:ext cx="1417320" cy="20116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858000" y="2221992"/>
            <a:ext cx="457200" cy="457200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2231136"/>
            <a:ext cx="45720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7101E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9672" y="2852928"/>
            <a:ext cx="1179576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GREEDY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9672" y="3246120"/>
            <a:ext cx="1179576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Best locally feasible station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818120" y="3017520"/>
            <a:ext cx="484632" cy="0"/>
          </a:xfrm>
          <a:prstGeom prst="line">
            <a:avLst/>
          </a:prstGeom>
          <a:ln w="22860">
            <a:solidFill>
              <a:srgbClr val="35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8238744" y="2953512"/>
            <a:ext cx="128016" cy="128016"/>
          </a:xfrm>
          <a:prstGeom prst="triangl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366760" y="2011680"/>
            <a:ext cx="1417320" cy="20116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823960" y="2221992"/>
            <a:ext cx="457200" cy="457200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23960" y="2231136"/>
            <a:ext cx="45720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7101E"/>
                </a:solidFill>
                <a:latin typeface="Aptos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2852928"/>
            <a:ext cx="1179576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QUEUE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3246120"/>
            <a:ext cx="1179576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Lowest-cost / highest-priority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784080" y="3017520"/>
            <a:ext cx="484632" cy="0"/>
          </a:xfrm>
          <a:prstGeom prst="line">
            <a:avLst/>
          </a:prstGeom>
          <a:ln w="22860">
            <a:solidFill>
              <a:srgbClr val="35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10204704" y="2953512"/>
            <a:ext cx="128016" cy="128016"/>
          </a:xfrm>
          <a:prstGeom prst="triangl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332720" y="2011680"/>
            <a:ext cx="1417320" cy="20116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789920" y="2221992"/>
            <a:ext cx="457200" cy="457200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89920" y="2231136"/>
            <a:ext cx="457200" cy="43891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7101E"/>
                </a:solidFill>
                <a:latin typeface="Aptos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51592" y="2852928"/>
            <a:ext cx="1179576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OUTPUT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51592" y="3246120"/>
            <a:ext cx="1179576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Route • Stops • Battery • Distance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6928" y="4434840"/>
            <a:ext cx="11018520" cy="1325880"/>
          </a:xfrm>
          <a:prstGeom prst="roundRect">
            <a:avLst/>
          </a:prstGeom>
          <a:solidFill>
            <a:srgbClr val="11263C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4645152"/>
            <a:ext cx="13716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USER JOURNEY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0240" y="4599432"/>
            <a:ext cx="12344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Enter trip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0240" y="4919472"/>
            <a:ext cx="123444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source + battery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29000" y="4599432"/>
            <a:ext cx="12344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Load graph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29000" y="4919472"/>
            <a:ext cx="123444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roads + stations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37760" y="4599432"/>
            <a:ext cx="12344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Search route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37760" y="4919472"/>
            <a:ext cx="123444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non-negative costs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6519" y="4599432"/>
            <a:ext cx="12344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Evaluate stops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46519" y="4919472"/>
            <a:ext cx="123444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distance + availability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599432"/>
            <a:ext cx="12344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Prioritize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4919472"/>
            <a:ext cx="123444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best candidate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64040" y="4599432"/>
            <a:ext cx="12344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9FC"/>
                </a:solidFill>
                <a:latin typeface="Aptos"/>
              </a:rPr>
              <a:t>Display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64040" y="4919472"/>
            <a:ext cx="123444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7BCCD"/>
                </a:solidFill>
                <a:latin typeface="Aptos"/>
              </a:rPr>
              <a:t>map + explanation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"/>
            <a:ext cx="5029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05  /  TECHNOLOGY &amp; ALGORITHM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5F9FC"/>
                </a:solidFill>
                <a:latin typeface="Aptos"/>
              </a:rPr>
              <a:t>Implementation stack + algorithmic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1207008"/>
            <a:ext cx="1088136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A7BCCD"/>
                </a:solidFill>
                <a:latin typeface="Aptos"/>
              </a:rPr>
              <a:t>A lightweight Python/Flask backend feeds a React interface with explainable routing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737360"/>
            <a:ext cx="2926080" cy="420624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1965960"/>
            <a:ext cx="1828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35DCE8"/>
                </a:solidFill>
                <a:latin typeface="Aptos"/>
              </a:rPr>
              <a:t>TECH STACK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2487168"/>
            <a:ext cx="329184" cy="329184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496312"/>
            <a:ext cx="329184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07101E"/>
                </a:solidFill>
                <a:latin typeface="Aptos"/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2478024"/>
            <a:ext cx="11887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REACT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715768"/>
            <a:ext cx="17830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Interactive map + dashboard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099816"/>
            <a:ext cx="329184" cy="329184"/>
          </a:xfrm>
          <a:prstGeom prst="ellipse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108960"/>
            <a:ext cx="329184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07101E"/>
                </a:solidFill>
                <a:latin typeface="Aptos"/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3090672"/>
            <a:ext cx="11887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FLASK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3328416"/>
            <a:ext cx="17830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API + orchestration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3712464"/>
            <a:ext cx="329184" cy="329184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721608"/>
            <a:ext cx="329184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07101E"/>
                </a:solidFill>
                <a:latin typeface="Aptos"/>
              </a:rPr>
              <a:t>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3703320"/>
            <a:ext cx="11887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3941064"/>
            <a:ext cx="17830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Algorithms + data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4325112"/>
            <a:ext cx="329184" cy="329184"/>
          </a:xfrm>
          <a:prstGeom prst="ellipse">
            <a:avLst/>
          </a:prstGeom>
          <a:solidFill>
            <a:srgbClr val="4A87FF"/>
          </a:solidFill>
          <a:ln>
            <a:solidFill>
              <a:srgbClr val="4A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334256"/>
            <a:ext cx="329184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07101E"/>
                </a:solidFill>
                <a:latin typeface="Aptos"/>
              </a:rPr>
              <a:t>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315968"/>
            <a:ext cx="11887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GRAPH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4553712"/>
            <a:ext cx="17830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Road + station model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" y="4937760"/>
            <a:ext cx="329184" cy="329184"/>
          </a:xfrm>
          <a:prstGeom prst="ellipse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946904"/>
            <a:ext cx="329184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07101E"/>
                </a:solidFill>
                <a:latin typeface="Aptos"/>
              </a:rPr>
              <a:t>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4928616"/>
            <a:ext cx="11887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5166360"/>
            <a:ext cx="17830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Candidate prioritization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486400"/>
            <a:ext cx="23317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A7BCCD"/>
                </a:solidFill>
                <a:latin typeface="Aptos"/>
              </a:rPr>
              <a:t>Map: Leaflet / OpenStreetMap (optional)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67328" y="1737360"/>
            <a:ext cx="2404872" cy="420624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50208" y="1938528"/>
            <a:ext cx="411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0208" y="2331720"/>
            <a:ext cx="196596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5F9FC"/>
                </a:solidFill>
                <a:latin typeface="Aptos"/>
              </a:rPr>
              <a:t>DIJKSTRA’S ALGORITHM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50208" y="2971800"/>
            <a:ext cx="19659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5DCE8"/>
                </a:solidFill>
                <a:latin typeface="Aptos"/>
              </a:rPr>
              <a:t>Route optimization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50208" y="3456432"/>
            <a:ext cx="1965960" cy="10058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Least-cost path with non-negative edge weights.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50208" y="4892040"/>
            <a:ext cx="1965960" cy="502920"/>
          </a:xfrm>
          <a:prstGeom prst="roundRect">
            <a:avLst/>
          </a:prstGeom>
          <a:solidFill>
            <a:srgbClr val="11263C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0" y="5029200"/>
            <a:ext cx="1810512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F5F9FC"/>
                </a:solidFill>
                <a:latin typeface="Aptos"/>
              </a:rPr>
              <a:t>O((V + E) log V)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91656" y="1737360"/>
            <a:ext cx="2404872" cy="420624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74536" y="1938528"/>
            <a:ext cx="411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42E697"/>
                </a:solidFill>
                <a:latin typeface="Aptos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74536" y="2331720"/>
            <a:ext cx="196596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5F9FC"/>
                </a:solidFill>
                <a:latin typeface="Aptos"/>
              </a:rPr>
              <a:t>GREEDY STRATEGY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74536" y="2971800"/>
            <a:ext cx="19659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42E697"/>
                </a:solidFill>
                <a:latin typeface="Aptos"/>
              </a:rPr>
              <a:t>Charging selection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74536" y="3456432"/>
            <a:ext cx="1965960" cy="10058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Ranks feasible stations using explicit score factors.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74536" y="4892040"/>
            <a:ext cx="1965960" cy="502920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47688" y="5029200"/>
            <a:ext cx="1810512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F5F9FC"/>
                </a:solidFill>
                <a:latin typeface="Aptos"/>
              </a:rPr>
              <a:t>≈ O(S log S)*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15984" y="1737360"/>
            <a:ext cx="2404872" cy="420624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98863" y="1938528"/>
            <a:ext cx="411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FFC74D"/>
                </a:solidFill>
                <a:latin typeface="Aptos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98863" y="2331720"/>
            <a:ext cx="196596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5F9FC"/>
                </a:solidFill>
                <a:latin typeface="Aptos"/>
              </a:rPr>
              <a:t>PRIORITY QUEUE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98863" y="2971800"/>
            <a:ext cx="19659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FFC74D"/>
                </a:solidFill>
                <a:latin typeface="Aptos"/>
              </a:rPr>
              <a:t>Candidate management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98863" y="3456432"/>
            <a:ext cx="1965960" cy="10058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A7BCCD"/>
                </a:solidFill>
                <a:latin typeface="Aptos"/>
              </a:rPr>
              <a:t>Efficiently selects the next lowest-cost / highest-priority option.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98863" y="4892040"/>
            <a:ext cx="1965960" cy="502920"/>
          </a:xfrm>
          <a:prstGeom prst="roundRect">
            <a:avLst/>
          </a:prstGeom>
          <a:solidFill>
            <a:srgbClr val="11263C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72015" y="5029200"/>
            <a:ext cx="1810512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F5F9FC"/>
                </a:solidFill>
                <a:latin typeface="Aptos"/>
              </a:rPr>
              <a:t>Heap-based selection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0" y="6108192"/>
            <a:ext cx="502920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A7BCCD"/>
                </a:solidFill>
                <a:latin typeface="Aptos"/>
              </a:rPr>
              <a:t>* Complexity depends on candidate generation / scoring implementation.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"/>
            <a:ext cx="5029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06  /  DEMO &amp;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5F9FC"/>
                </a:solidFill>
                <a:latin typeface="Aptos"/>
              </a:rPr>
              <a:t>Sample journey: Hyderabad → Warangal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1207008"/>
            <a:ext cx="1088136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A7BCCD"/>
                </a:solidFill>
                <a:latin typeface="Aptos"/>
              </a:rPr>
              <a:t>All values below are illustrative demo data, not measured real-world performance.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691640"/>
            <a:ext cx="2788920" cy="45262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1920240"/>
            <a:ext cx="14630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35DCE8"/>
                </a:solidFill>
                <a:latin typeface="Aptos"/>
              </a:rPr>
              <a:t>DEMO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395728"/>
            <a:ext cx="13716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596896"/>
            <a:ext cx="21488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F5F9FC"/>
                </a:solidFill>
                <a:latin typeface="Aptos"/>
              </a:rPr>
              <a:t>Hyderabad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145536"/>
            <a:ext cx="13716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DESTINATION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46704"/>
            <a:ext cx="21488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F5F9FC"/>
                </a:solidFill>
                <a:latin typeface="Aptos"/>
              </a:rPr>
              <a:t>Warangal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95344"/>
            <a:ext cx="13716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INITIAL BATTERY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96511"/>
            <a:ext cx="21488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42E697"/>
                </a:solidFill>
                <a:latin typeface="Aptos"/>
              </a:rPr>
              <a:t>70%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45152"/>
            <a:ext cx="13716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BATTERY RANGE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46320"/>
            <a:ext cx="21488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FFC74D"/>
                </a:solidFill>
                <a:latin typeface="Aptos"/>
              </a:rPr>
              <a:t>180 km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58384"/>
            <a:ext cx="182880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CANDIDATE STATIONS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84448" y="1691640"/>
            <a:ext cx="4663440" cy="45262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3858768" y="4588459"/>
            <a:ext cx="1217980" cy="1217981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858768" y="4588459"/>
            <a:ext cx="1217980" cy="1217981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076748" y="3275838"/>
            <a:ext cx="839420" cy="1312621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076748" y="3275838"/>
            <a:ext cx="839420" cy="1312621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916168" y="2103120"/>
            <a:ext cx="2011680" cy="1172718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916168" y="2103120"/>
            <a:ext cx="2011680" cy="1172718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630168" y="3275838"/>
            <a:ext cx="1260043" cy="316839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30168" y="3275838"/>
            <a:ext cx="1260043" cy="316839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90211" y="3592677"/>
            <a:ext cx="1585569" cy="452628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890211" y="3592677"/>
            <a:ext cx="1585569" cy="452628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475780" y="2506370"/>
            <a:ext cx="1680668" cy="1538935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475780" y="2506370"/>
            <a:ext cx="1680668" cy="1538935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6149340" y="1828800"/>
            <a:ext cx="326440" cy="1673352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6149340" y="1828800"/>
            <a:ext cx="326440" cy="1673352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149340" y="3502152"/>
            <a:ext cx="559612" cy="2624328"/>
          </a:xfrm>
          <a:prstGeom prst="line">
            <a:avLst/>
          </a:prstGeom>
          <a:ln w="63500">
            <a:solidFill>
              <a:srgbClr val="364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149340" y="3502152"/>
            <a:ext cx="559612" cy="2624328"/>
          </a:xfrm>
          <a:prstGeom prst="line">
            <a:avLst/>
          </a:prstGeom>
          <a:ln w="12700">
            <a:solidFill>
              <a:srgbClr val="5A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04487" y="4588459"/>
            <a:ext cx="1172261" cy="1217981"/>
          </a:xfrm>
          <a:prstGeom prst="line">
            <a:avLst/>
          </a:prstGeom>
          <a:ln w="381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076748" y="3275838"/>
            <a:ext cx="839420" cy="1312621"/>
          </a:xfrm>
          <a:prstGeom prst="line">
            <a:avLst/>
          </a:prstGeom>
          <a:ln w="381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916168" y="2103120"/>
            <a:ext cx="2011680" cy="1172718"/>
          </a:xfrm>
          <a:prstGeom prst="line">
            <a:avLst/>
          </a:prstGeom>
          <a:ln w="38100">
            <a:solidFill>
              <a:srgbClr val="42E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3785615" y="5687568"/>
            <a:ext cx="237744" cy="237744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85615" y="5696712"/>
            <a:ext cx="23774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EV</a:t>
            </a:r>
          </a:p>
        </p:txBody>
      </p:sp>
      <p:sp>
        <p:nvSpPr>
          <p:cNvPr id="50" name="Oval 49"/>
          <p:cNvSpPr/>
          <p:nvPr/>
        </p:nvSpPr>
        <p:spPr>
          <a:xfrm>
            <a:off x="4957876" y="4469587"/>
            <a:ext cx="237744" cy="237744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57876" y="4478731"/>
            <a:ext cx="23774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A</a:t>
            </a:r>
          </a:p>
        </p:txBody>
      </p:sp>
      <p:sp>
        <p:nvSpPr>
          <p:cNvPr id="52" name="Oval 51"/>
          <p:cNvSpPr/>
          <p:nvPr/>
        </p:nvSpPr>
        <p:spPr>
          <a:xfrm>
            <a:off x="5797296" y="3156966"/>
            <a:ext cx="237744" cy="237744"/>
          </a:xfrm>
          <a:prstGeom prst="ellipse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97296" y="3166110"/>
            <a:ext cx="23774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C</a:t>
            </a:r>
          </a:p>
        </p:txBody>
      </p:sp>
      <p:sp>
        <p:nvSpPr>
          <p:cNvPr id="54" name="Oval 53"/>
          <p:cNvSpPr/>
          <p:nvPr/>
        </p:nvSpPr>
        <p:spPr>
          <a:xfrm>
            <a:off x="7808975" y="1984248"/>
            <a:ext cx="237744" cy="237744"/>
          </a:xfrm>
          <a:prstGeom prst="ellipse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08975" y="1993392"/>
            <a:ext cx="237744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600" b="1">
                <a:solidFill>
                  <a:srgbClr val="07101E"/>
                </a:solidFill>
                <a:latin typeface="Aptos"/>
              </a:rPr>
              <a:t>DEST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49039" y="1837944"/>
            <a:ext cx="4334255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LIVE ROUTE PREVIEW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22191" y="5468112"/>
            <a:ext cx="4187952" cy="512064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50208" y="5596128"/>
            <a:ext cx="388620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42E697"/>
                </a:solidFill>
                <a:latin typeface="Aptos"/>
              </a:rPr>
              <a:t>HYDERABAD  →  A  →  C  →  WARANGAL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58200" y="1691640"/>
            <a:ext cx="3182112" cy="452628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32520" y="1920240"/>
            <a:ext cx="23774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42E697"/>
                </a:solidFill>
                <a:latin typeface="Aptos"/>
              </a:rPr>
              <a:t>RECOMMENDED OUTPUT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2395728"/>
            <a:ext cx="12344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Route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85248" y="2395728"/>
            <a:ext cx="1353312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F5F9FC"/>
                </a:solidFill>
                <a:latin typeface="Aptos"/>
              </a:rPr>
              <a:t>A → 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32520" y="2926080"/>
            <a:ext cx="12344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Total distance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85248" y="2926080"/>
            <a:ext cx="1353312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F5F9FC"/>
                </a:solidFill>
                <a:latin typeface="Aptos"/>
              </a:rPr>
              <a:t>≈ 150 km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32520" y="3456432"/>
            <a:ext cx="12344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Charging stops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85248" y="3456432"/>
            <a:ext cx="1353312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F5F9FC"/>
                </a:solidFill>
                <a:latin typeface="Aptos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3986783"/>
            <a:ext cx="12344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Station 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85248" y="3986783"/>
            <a:ext cx="1353312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F5F9FC"/>
                </a:solidFill>
                <a:latin typeface="Aptos"/>
              </a:rPr>
              <a:t>Available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32520" y="4517136"/>
            <a:ext cx="12344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Station 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85248" y="4517136"/>
            <a:ext cx="1353312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F5F9FC"/>
                </a:solidFill>
                <a:latin typeface="Aptos"/>
              </a:rPr>
              <a:t>Available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32520" y="5047488"/>
            <a:ext cx="12344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A7BCCD"/>
                </a:solidFill>
                <a:latin typeface="Aptos"/>
              </a:rPr>
              <a:t>Decision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85248" y="5047488"/>
            <a:ext cx="1353312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F5F9FC"/>
                </a:solidFill>
                <a:latin typeface="Aptos"/>
              </a:rPr>
              <a:t>Feasible + low cost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732520" y="5559552"/>
            <a:ext cx="2578608" cy="365760"/>
          </a:xfrm>
          <a:prstGeom prst="roundRect">
            <a:avLst/>
          </a:prstGeom>
          <a:solidFill>
            <a:srgbClr val="11263C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32520" y="5650992"/>
            <a:ext cx="2578608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35DCE8"/>
                </a:solidFill>
                <a:latin typeface="Aptos"/>
              </a:rPr>
              <a:t>BETTER ROUTING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732520" y="5559552"/>
            <a:ext cx="2578608" cy="365760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732520" y="5650992"/>
            <a:ext cx="2578608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42E697"/>
                </a:solidFill>
                <a:latin typeface="Aptos"/>
              </a:rPr>
              <a:t>LOWER DETOURS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732520" y="5559552"/>
            <a:ext cx="2578608" cy="365760"/>
          </a:xfrm>
          <a:prstGeom prst="roundRect">
            <a:avLst/>
          </a:prstGeom>
          <a:solidFill>
            <a:srgbClr val="11263C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32520" y="5650992"/>
            <a:ext cx="2578608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FFC74D"/>
                </a:solidFill>
                <a:latin typeface="Aptos"/>
              </a:rPr>
              <a:t>LESS RANGE ANXIETY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8346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2648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60020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324612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4892040"/>
            <a:ext cx="12188952" cy="0"/>
          </a:xfrm>
          <a:prstGeom prst="line">
            <a:avLst/>
          </a:prstGeom>
          <a:ln w="381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4864"/>
            <a:ext cx="12188952" cy="22860"/>
          </a:xfrm>
          <a:prstGeom prst="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"/>
            <a:ext cx="5029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35DCE8"/>
                </a:solidFill>
                <a:latin typeface="Aptos"/>
              </a:rPr>
              <a:t>07  /  FUTURE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"/>
            <a:ext cx="1115568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5F9FC"/>
                </a:solidFill>
                <a:latin typeface="Aptos"/>
              </a:rPr>
              <a:t>From prototype to city-scale EV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1207008"/>
            <a:ext cx="1088136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A7BCCD"/>
                </a:solidFill>
                <a:latin typeface="Aptos"/>
              </a:rPr>
              <a:t>A modular architecture makes the planner ready for real-time data, dynamic routing, and network integration.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719072"/>
            <a:ext cx="3657600" cy="3977639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1965960"/>
            <a:ext cx="20116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35DCE8"/>
                </a:solidFill>
                <a:latin typeface="Aptos"/>
              </a:rPr>
              <a:t>CURRENT PROTOTYPE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2514600"/>
            <a:ext cx="118872" cy="118872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523744"/>
            <a:ext cx="118872" cy="1005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500" b="1">
                <a:solidFill>
                  <a:srgbClr val="07101E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2487168"/>
            <a:ext cx="2706624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5F9FC"/>
                </a:solidFill>
                <a:latin typeface="Aptos"/>
              </a:rPr>
              <a:t>Dijkstra route optimization</a:t>
            </a:r>
          </a:p>
        </p:txBody>
      </p:sp>
      <p:sp>
        <p:nvSpPr>
          <p:cNvPr id="22" name="Oval 21"/>
          <p:cNvSpPr/>
          <p:nvPr/>
        </p:nvSpPr>
        <p:spPr>
          <a:xfrm>
            <a:off x="841248" y="3035808"/>
            <a:ext cx="118872" cy="118872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044951"/>
            <a:ext cx="118872" cy="1005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500" b="1">
                <a:solidFill>
                  <a:srgbClr val="07101E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008376"/>
            <a:ext cx="2706624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5F9FC"/>
                </a:solidFill>
                <a:latin typeface="Aptos"/>
              </a:rPr>
              <a:t>Greedy charging selection</a:t>
            </a:r>
          </a:p>
        </p:txBody>
      </p:sp>
      <p:sp>
        <p:nvSpPr>
          <p:cNvPr id="25" name="Oval 24"/>
          <p:cNvSpPr/>
          <p:nvPr/>
        </p:nvSpPr>
        <p:spPr>
          <a:xfrm>
            <a:off x="841248" y="3557016"/>
            <a:ext cx="118872" cy="118872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566160"/>
            <a:ext cx="118872" cy="1005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500" b="1">
                <a:solidFill>
                  <a:srgbClr val="07101E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529584"/>
            <a:ext cx="2706624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5F9FC"/>
                </a:solidFill>
                <a:latin typeface="Aptos"/>
              </a:rPr>
              <a:t>Priority-based candidate processing</a:t>
            </a:r>
          </a:p>
        </p:txBody>
      </p:sp>
      <p:sp>
        <p:nvSpPr>
          <p:cNvPr id="28" name="Oval 27"/>
          <p:cNvSpPr/>
          <p:nvPr/>
        </p:nvSpPr>
        <p:spPr>
          <a:xfrm>
            <a:off x="841248" y="4078224"/>
            <a:ext cx="118872" cy="118872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087368"/>
            <a:ext cx="118872" cy="1005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500" b="1">
                <a:solidFill>
                  <a:srgbClr val="07101E"/>
                </a:solidFill>
                <a:latin typeface="Aptos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" y="4050791"/>
            <a:ext cx="2706624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5F9FC"/>
                </a:solidFill>
                <a:latin typeface="Aptos"/>
              </a:rPr>
              <a:t>Explainable route + charging output</a:t>
            </a:r>
          </a:p>
        </p:txBody>
      </p:sp>
      <p:sp>
        <p:nvSpPr>
          <p:cNvPr id="31" name="Oval 30"/>
          <p:cNvSpPr/>
          <p:nvPr/>
        </p:nvSpPr>
        <p:spPr>
          <a:xfrm>
            <a:off x="841248" y="4599432"/>
            <a:ext cx="118872" cy="118872"/>
          </a:xfrm>
          <a:prstGeom prst="ellipse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608576"/>
            <a:ext cx="118872" cy="1005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500" b="1">
                <a:solidFill>
                  <a:srgbClr val="07101E"/>
                </a:solidFill>
                <a:latin typeface="Apto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" y="4572000"/>
            <a:ext cx="2706624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F5F9FC"/>
                </a:solidFill>
                <a:latin typeface="Aptos"/>
              </a:rPr>
              <a:t>React + Flask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1783080"/>
            <a:ext cx="182880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42E697"/>
                </a:solidFill>
                <a:latin typeface="Aptos"/>
              </a:rPr>
              <a:t>FUTURE ROADMAP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53712" y="2267712"/>
            <a:ext cx="6812280" cy="50292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09160" y="2359152"/>
            <a:ext cx="749808" cy="320040"/>
          </a:xfrm>
          <a:prstGeom prst="roundRect">
            <a:avLst/>
          </a:prstGeom>
          <a:solidFill>
            <a:srgbClr val="35DCE8"/>
          </a:solidFill>
          <a:ln>
            <a:solidFill>
              <a:srgbClr val="35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2432304"/>
            <a:ext cx="749808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07101E"/>
                </a:solidFill>
                <a:latin typeface="Aptos"/>
              </a:rPr>
              <a:t>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2395728"/>
            <a:ext cx="525780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Real-time station availability + GPS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53712" y="2926080"/>
            <a:ext cx="6812280" cy="50292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709160" y="3017520"/>
            <a:ext cx="749808" cy="320040"/>
          </a:xfrm>
          <a:prstGeom prst="roundRect">
            <a:avLst/>
          </a:prstGeom>
          <a:solidFill>
            <a:srgbClr val="42E697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9160" y="3090672"/>
            <a:ext cx="749808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07101E"/>
                </a:solidFill>
                <a:latin typeface="Aptos"/>
              </a:rPr>
              <a:t>DYNAMIC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054096"/>
            <a:ext cx="525780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Traffic + weather-aware rerouting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53712" y="3584448"/>
            <a:ext cx="6812280" cy="50292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09160" y="3675887"/>
            <a:ext cx="749808" cy="320040"/>
          </a:xfrm>
          <a:prstGeom prst="roundRect">
            <a:avLst/>
          </a:prstGeom>
          <a:solidFill>
            <a:srgbClr val="FFC74D"/>
          </a:solidFill>
          <a:ln>
            <a:solidFill>
              <a:srgbClr val="FFC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9160" y="3749039"/>
            <a:ext cx="749808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07101E"/>
                </a:solidFill>
                <a:latin typeface="Aptos"/>
              </a:rPr>
              <a:t>PREDICT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3712463"/>
            <a:ext cx="525780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Charging time + battery consumption models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53712" y="4242816"/>
            <a:ext cx="6812280" cy="50292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709160" y="4334256"/>
            <a:ext cx="749808" cy="320040"/>
          </a:xfrm>
          <a:prstGeom prst="roundRect">
            <a:avLst/>
          </a:prstGeom>
          <a:solidFill>
            <a:srgbClr val="4A87FF"/>
          </a:solidFill>
          <a:ln>
            <a:solidFill>
              <a:srgbClr val="4A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09160" y="4407408"/>
            <a:ext cx="749808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07101E"/>
                </a:solidFill>
                <a:latin typeface="Aptos"/>
              </a:rPr>
              <a:t>SCALE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4370832"/>
            <a:ext cx="525780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Cloud deployment + multi-user support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53712" y="4901183"/>
            <a:ext cx="6812280" cy="502920"/>
          </a:xfrm>
          <a:prstGeom prst="roundRect">
            <a:avLst/>
          </a:prstGeom>
          <a:solidFill>
            <a:srgbClr val="0D1D30"/>
          </a:solidFill>
          <a:ln>
            <a:solidFill>
              <a:srgbClr val="1C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709160" y="4992623"/>
            <a:ext cx="749808" cy="320040"/>
          </a:xfrm>
          <a:prstGeom prst="roundRect">
            <a:avLst/>
          </a:prstGeom>
          <a:solidFill>
            <a:srgbClr val="FF6868"/>
          </a:solidFill>
          <a:ln>
            <a:solidFill>
              <a:srgbClr val="FF6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09160" y="5065775"/>
            <a:ext cx="749808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07101E"/>
                </a:solidFill>
                <a:latin typeface="Aptos"/>
              </a:rPr>
              <a:t>CONNECT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0" y="5029199"/>
            <a:ext cx="525780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F5F9FC"/>
                </a:solidFill>
                <a:latin typeface="Aptos"/>
              </a:rPr>
              <a:t>Charging-network integration + mobile app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53712" y="5650992"/>
            <a:ext cx="6812280" cy="713232"/>
          </a:xfrm>
          <a:prstGeom prst="roundRect">
            <a:avLst/>
          </a:prstGeom>
          <a:solidFill>
            <a:srgbClr val="11263C"/>
          </a:solidFill>
          <a:ln>
            <a:solidFill>
              <a:srgbClr val="42E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00600" y="5797296"/>
            <a:ext cx="630936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5F9FC"/>
                </a:solidFill>
                <a:latin typeface="Aptos"/>
              </a:rPr>
              <a:t>“Smart EV travel requires more than finding the shortest route.”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5833872"/>
            <a:ext cx="356616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000" b="1">
                <a:solidFill>
                  <a:srgbClr val="35DCE8"/>
                </a:solidFill>
                <a:latin typeface="Aptos"/>
              </a:rPr>
              <a:t>THANK YOU  •  Q&amp;A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02920" y="6528816"/>
            <a:ext cx="11183112" cy="0"/>
          </a:xfrm>
          <a:prstGeom prst="line">
            <a:avLst/>
          </a:prstGeom>
          <a:ln w="8890">
            <a:solidFill>
              <a:srgbClr val="1C34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30352" y="6601968"/>
            <a:ext cx="49377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00" b="1">
                <a:solidFill>
                  <a:srgbClr val="A7BCCD"/>
                </a:solidFill>
                <a:latin typeface="Aptos"/>
              </a:rPr>
              <a:t>EV CHARGING PLANNER  •  HACKATHON PROTOTYPE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92840" y="6565392"/>
            <a:ext cx="3657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A7BCCD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Vehicle Charging Planner — Hackathon</dc:title>
  <dc:subject>7-slide hackathon presentation</dc:subject>
  <dc:creator>Hackathon Team</dc:creator>
  <cp:keywords>EV, charging, Dijkstra, Greedy, Priority Queue, React, Flask, Python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